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BF97B001-A90D-4558-AFA9-6F56B604B1A2}" type="slidenum">
              <a:rPr b="0" lang="en-IN" sz="1400" spc="-1" strike="noStrike">
                <a:latin typeface="Times New Roman"/>
              </a:rPr>
              <a:t>1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81846E0-9B53-4CD1-903E-F6380611A214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99466C0-3647-4EA3-9B9E-FE571E671738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5CF13CF-8DAC-479D-A1B2-674EFAD7D3D9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D1E9344-DD8A-4F78-9770-31260F62AF25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041B122-DEEE-46DF-94B0-B139A3277A92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5A56727-7491-4B0A-A284-9FCECE3AFFB4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9DC7CD5-B4F9-49C6-81A6-C6DC4FEB361C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94CE86E-6698-4405-8D1C-82D2B560C45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9D53458-56EB-4BFC-A9DC-5AA165C721D1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89EF26A-224E-48B8-A045-82F39541F78B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C21E115-BCA4-43C1-B49E-3E588D53DAD9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70DED6B-2027-4854-8618-3AB710E4325F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24A995D-ECAD-41E9-88F7-328322DB2D27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7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B614514-9726-46BF-B6DA-A4A070FF8310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0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516B75E-221E-4B91-AF95-E3D327D0BC24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3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E8CBB59-04FE-4A75-961D-398565442C2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6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0AFD4D8-B513-4E71-8712-ED979641637B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9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3CF4B33-9E0C-4FF6-9815-E59832387FB8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2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00EB674-4870-4CFB-9706-544F95B803EF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5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AA92F29-49D8-447A-9B18-1BE3CC9ED70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3492C4B-1540-4F5B-87FE-C1579CCC4A5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3CB6A20-0074-4F9F-A6E6-4FBEC1702289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2567CD4-8144-4CFD-973C-AD9FEC404F99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288B727-5B4A-4AF6-8CAA-8AF842E14B57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4786D82-9804-41CD-B0ED-85537834C559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29E7E7C-A938-415B-8E81-0D346A89281C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E19D36A-F9E2-414C-AD44-11923150ED11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1FA11C3-0B51-4770-8A1C-A08C84919D68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23F8459-E6F9-4400-9BB9-6A0C772D0D3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396712A-B78A-46D4-A3F5-2CB97E40E3CF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8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E046F47-63C6-4981-8CEF-95D139576411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BEFAAB5-D362-492F-85DA-63BA761D7BCB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D553938-1AF7-4F78-BF32-24CEBD0CC341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965E37B-EDEA-48E9-BB00-FDAB81B5F363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3825596-4B95-4133-8597-92BE5CD827DF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78EF407-A476-4A9B-99AB-81EBB7BE31A0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C7C19D6-3A1E-49B7-B473-443B40B65918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BC8547D-C4D2-4D2C-83F0-3EF9142C8BB8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C1938DA-17F5-43BF-923B-0E4988FDCD05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8EE6C8A-6AF1-4C42-982F-BF7EC33B0F95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26F411F-DAA2-4601-B931-B1EC59AE291D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E4BF6DB-FC05-4A99-91DD-B6A9AD38ACED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4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90BA84E-ABF0-4483-8500-BF456BE94902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7" name="CustomShape 3"/>
          <p:cNvSpPr/>
          <p:nvPr/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607638D-9A9B-4ABC-B6CE-27664770F9C4}" type="slidenum">
              <a:rPr b="0" lang="en-IN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-8640"/>
            <a:ext cx="12190320" cy="6866640"/>
            <a:chOff x="0" y="-8640"/>
            <a:chExt cx="12190320" cy="6866640"/>
          </a:xfrm>
        </p:grpSpPr>
        <p:sp>
          <p:nvSpPr>
            <p:cNvPr id="1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0" y="4013280"/>
              <a:ext cx="446760" cy="284292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11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1"/>
          <p:cNvGrpSpPr/>
          <p:nvPr/>
        </p:nvGrpSpPr>
        <p:grpSpPr>
          <a:xfrm>
            <a:off x="0" y="-8640"/>
            <a:ext cx="12190320" cy="6866640"/>
            <a:chOff x="0" y="-8640"/>
            <a:chExt cx="12190320" cy="6866640"/>
          </a:xfrm>
        </p:grpSpPr>
        <p:sp>
          <p:nvSpPr>
            <p:cNvPr id="50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CustomShape 4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3" name="CustomShape 5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4" name="CustomShape 6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5" name="CustomShape 7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6" name="CustomShape 8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7" name="CustomShape 9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8" name="CustomShape 10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9" name="CustomShape 11"/>
            <p:cNvSpPr/>
            <p:nvPr/>
          </p:nvSpPr>
          <p:spPr>
            <a:xfrm>
              <a:off x="0" y="4013280"/>
              <a:ext cx="446760" cy="284292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pSp>
        <p:nvGrpSpPr>
          <p:cNvPr id="60" name="Group 12"/>
          <p:cNvGrpSpPr/>
          <p:nvPr/>
        </p:nvGrpSpPr>
        <p:grpSpPr>
          <a:xfrm>
            <a:off x="1800" y="-8640"/>
            <a:ext cx="12188520" cy="6866640"/>
            <a:chOff x="1800" y="-8640"/>
            <a:chExt cx="12188520" cy="6866640"/>
          </a:xfrm>
        </p:grpSpPr>
        <p:sp>
          <p:nvSpPr>
            <p:cNvPr id="61" name="Line 13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2" name="Line 14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3" name="CustomShape 15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4" name="CustomShape 16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5" name="CustomShape 17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6" name="CustomShape 18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7" name="CustomShape 19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8" name="CustomShape 20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9" name="CustomShape 21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0" name="CustomShape 22"/>
            <p:cNvSpPr/>
            <p:nvPr/>
          </p:nvSpPr>
          <p:spPr>
            <a:xfrm rot="10800000">
              <a:off x="1800" y="1800"/>
              <a:ext cx="840960" cy="56642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71" name="PlaceHolder 2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2" name="PlaceHolder 2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www.w3schools.com/cssref/css3_pr_align-self.php" TargetMode="External"/><Relationship Id="rId2" Type="http://schemas.openxmlformats.org/officeDocument/2006/relationships/hyperlink" Target="https://www.w3schools.com/cssref/css3_pr_flex.php" TargetMode="External"/><Relationship Id="rId3" Type="http://schemas.openxmlformats.org/officeDocument/2006/relationships/hyperlink" Target="https://www.w3schools.com/cssref/css3_pr_flex-basis.php" TargetMode="External"/><Relationship Id="rId4" Type="http://schemas.openxmlformats.org/officeDocument/2006/relationships/hyperlink" Target="https://www.w3schools.com/cssref/css3_pr_flex-grow.php" TargetMode="External"/><Relationship Id="rId5" Type="http://schemas.openxmlformats.org/officeDocument/2006/relationships/hyperlink" Target="https://www.w3schools.com/cssref/css3_pr_flex-shrink.php" TargetMode="External"/><Relationship Id="rId6" Type="http://schemas.openxmlformats.org/officeDocument/2006/relationships/hyperlink" Target="https://www.w3schools.com/cssref/css3_pr_order.php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677160" y="200160"/>
            <a:ext cx="8595000" cy="68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css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2104200" y="1425960"/>
            <a:ext cx="621720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Verdana"/>
              </a:rPr>
              <a:t>Cascading Style Sheets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17" name="Picture 7" descr=""/>
          <p:cNvPicPr/>
          <p:nvPr/>
        </p:nvPicPr>
        <p:blipFill>
          <a:blip r:embed="rId1"/>
          <a:stretch/>
        </p:blipFill>
        <p:spPr>
          <a:xfrm>
            <a:off x="1811160" y="2832840"/>
            <a:ext cx="7670520" cy="3236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677160" y="200160"/>
            <a:ext cx="8595000" cy="68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IN" sz="3600" spc="-1" strike="noStrike">
                <a:solidFill>
                  <a:srgbClr val="90c226"/>
                </a:solidFill>
                <a:latin typeface="Trebuchet MS"/>
                <a:ea typeface="DejaVu Sans"/>
              </a:rPr>
              <a:t>Ways to link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674280" y="893520"/>
            <a:ext cx="820080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There are three ways of inserting a style sheet: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External CSS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Internal CSS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Inline CSS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674280" y="3106440"/>
            <a:ext cx="8461440" cy="127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CSS Selector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CSS Selector is used to select HTML elements you want to style.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"/>
          <p:cNvGrpSpPr/>
          <p:nvPr/>
        </p:nvGrpSpPr>
        <p:grpSpPr>
          <a:xfrm>
            <a:off x="1800" y="-8640"/>
            <a:ext cx="12188520" cy="6866640"/>
            <a:chOff x="1800" y="-8640"/>
            <a:chExt cx="12188520" cy="6866640"/>
          </a:xfrm>
        </p:grpSpPr>
        <p:sp>
          <p:nvSpPr>
            <p:cNvPr id="122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CustomShape 4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5" name="CustomShape 5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6" name="CustomShape 6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7" name="CustomShape 7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8" name="CustomShape 8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9" name="CustomShape 9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0" name="CustomShape 10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1" name="CustomShape 11"/>
            <p:cNvSpPr/>
            <p:nvPr/>
          </p:nvSpPr>
          <p:spPr>
            <a:xfrm rot="10800000">
              <a:off x="1800" y="1800"/>
              <a:ext cx="840960" cy="56642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132" name="CustomShape 12"/>
          <p:cNvSpPr/>
          <p:nvPr/>
        </p:nvSpPr>
        <p:spPr>
          <a:xfrm>
            <a:off x="765000" y="-208800"/>
            <a:ext cx="7671960" cy="108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Basic Selectors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133" name="Table 13"/>
          <p:cNvGraphicFramePr/>
          <p:nvPr/>
        </p:nvGraphicFramePr>
        <p:xfrm>
          <a:off x="866520" y="511560"/>
          <a:ext cx="9636480" cy="3384000"/>
        </p:xfrm>
        <a:graphic>
          <a:graphicData uri="http://schemas.openxmlformats.org/drawingml/2006/table">
            <a:tbl>
              <a:tblPr/>
              <a:tblGrid>
                <a:gridCol w="1540800"/>
                <a:gridCol w="4776480"/>
                <a:gridCol w="3319560"/>
              </a:tblGrid>
              <a:tr h="571680"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71680"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*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Selects 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all elements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* { margin: 0;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4080"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element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Selects all elements of that 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tag name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 { color: blue;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728280"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#id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Selects element by 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#header { font-size: 20px;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640"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.class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Selects all elements with a 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class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103680" rIns="10368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.btn { background: red;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03680" marR="1036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34" name="CustomShape 14"/>
          <p:cNvSpPr/>
          <p:nvPr/>
        </p:nvSpPr>
        <p:spPr>
          <a:xfrm>
            <a:off x="622080" y="4087800"/>
            <a:ext cx="274140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Group Selectors​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​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135" name="Table 15"/>
          <p:cNvGraphicFramePr/>
          <p:nvPr/>
        </p:nvGraphicFramePr>
        <p:xfrm>
          <a:off x="866520" y="4801320"/>
          <a:ext cx="9594360" cy="1442160"/>
        </p:xfrm>
        <a:graphic>
          <a:graphicData uri="http://schemas.openxmlformats.org/drawingml/2006/table">
            <a:tbl>
              <a:tblPr/>
              <a:tblGrid>
                <a:gridCol w="1633680"/>
                <a:gridCol w="4929840"/>
                <a:gridCol w="3031200"/>
              </a:tblGrid>
              <a:tr h="546120"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896400"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A, B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Applies the same style to multiple elements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34360" rIns="140400">
                      <a:noAutofit/>
                    </a:bodyPr>
                    <a:p>
                      <a:pPr>
                        <a:lnSpc>
                          <a:spcPts val="1650"/>
                        </a:lnSpc>
                      </a:pPr>
                      <a:r>
                        <a:rPr b="0" lang="en-IN" sz="2000" spc="-1" strike="noStrike">
                          <a:solidFill>
                            <a:srgbClr val="262626"/>
                          </a:solidFill>
                          <a:latin typeface="Arial"/>
                          <a:ea typeface="DejaVu Sans"/>
                        </a:rPr>
                        <a:t>h1, h2 { color: purple;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234360" marR="140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"/>
          <p:cNvGrpSpPr/>
          <p:nvPr/>
        </p:nvGrpSpPr>
        <p:grpSpPr>
          <a:xfrm>
            <a:off x="1800" y="-8640"/>
            <a:ext cx="12188520" cy="6866640"/>
            <a:chOff x="1800" y="-8640"/>
            <a:chExt cx="12188520" cy="6866640"/>
          </a:xfrm>
        </p:grpSpPr>
        <p:sp>
          <p:nvSpPr>
            <p:cNvPr id="137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9" name="CustomShape 4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0" name="CustomShape 5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1" name="CustomShape 6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2" name="CustomShape 7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3" name="CustomShape 8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4" name="CustomShape 9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5" name="CustomShape 10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46" name="CustomShape 11"/>
            <p:cNvSpPr/>
            <p:nvPr/>
          </p:nvSpPr>
          <p:spPr>
            <a:xfrm rot="10800000">
              <a:off x="1800" y="1800"/>
              <a:ext cx="840960" cy="56642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aphicFrame>
        <p:nvGraphicFramePr>
          <p:cNvPr id="147" name="Table 12"/>
          <p:cNvGraphicFramePr/>
          <p:nvPr/>
        </p:nvGraphicFramePr>
        <p:xfrm>
          <a:off x="709920" y="741240"/>
          <a:ext cx="9426240" cy="2236320"/>
        </p:xfrm>
        <a:graphic>
          <a:graphicData uri="http://schemas.openxmlformats.org/drawingml/2006/table">
            <a:tbl>
              <a:tblPr/>
              <a:tblGrid>
                <a:gridCol w="1414440"/>
                <a:gridCol w="4790160"/>
                <a:gridCol w="3222000"/>
              </a:tblGrid>
              <a:tr h="4471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471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 B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Selects B inside A (descendant)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div p { color: green;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71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 &gt; B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Selects direct child B of A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ul &gt; li { list-style: none;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471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 + B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Selects immediate next sibling B of A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h1 + p { margin-top: 0;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8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 ~ B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Selects all siblings B after A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h1 ~ p { color: grey;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8" name="CustomShape 13"/>
          <p:cNvSpPr/>
          <p:nvPr/>
        </p:nvSpPr>
        <p:spPr>
          <a:xfrm>
            <a:off x="705600" y="183600"/>
            <a:ext cx="353484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Combinator Selectors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149" name="Table 14"/>
          <p:cNvGraphicFramePr/>
          <p:nvPr/>
        </p:nvGraphicFramePr>
        <p:xfrm>
          <a:off x="615960" y="3760200"/>
          <a:ext cx="10084680" cy="360000"/>
        </p:xfrm>
        <a:graphic>
          <a:graphicData uri="http://schemas.openxmlformats.org/drawingml/2006/table">
            <a:tbl>
              <a:tblPr/>
              <a:tblGrid>
                <a:gridCol w="2115000"/>
                <a:gridCol w="3823920"/>
                <a:gridCol w="414612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[attr]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Selects elements with any value of attribute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[type] { border: 1px solid;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[attr=value]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Exact match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[type="text"] { width: 200px;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[attr^=value]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Starts with 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[href^="https"] { color: green;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[attr$=value]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Ends with 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[src$=".jpg"] { border: 1px solid;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[attr*=value]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Contains 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[title*="t"] { background: yellow;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0" name="CustomShape 15"/>
          <p:cNvSpPr/>
          <p:nvPr/>
        </p:nvSpPr>
        <p:spPr>
          <a:xfrm>
            <a:off x="705600" y="3200400"/>
            <a:ext cx="372276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Attribute Selectors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1"/>
          <p:cNvGrpSpPr/>
          <p:nvPr/>
        </p:nvGrpSpPr>
        <p:grpSpPr>
          <a:xfrm>
            <a:off x="1800" y="-8640"/>
            <a:ext cx="12188520" cy="6866640"/>
            <a:chOff x="1800" y="-8640"/>
            <a:chExt cx="12188520" cy="6866640"/>
          </a:xfrm>
        </p:grpSpPr>
        <p:sp>
          <p:nvSpPr>
            <p:cNvPr id="152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3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4" name="CustomShape 4"/>
            <p:cNvSpPr/>
            <p:nvPr/>
          </p:nvSpPr>
          <p:spPr>
            <a:xfrm>
              <a:off x="9181440" y="-8640"/>
              <a:ext cx="3005640" cy="68648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55" name="CustomShape 5"/>
            <p:cNvSpPr/>
            <p:nvPr/>
          </p:nvSpPr>
          <p:spPr>
            <a:xfrm>
              <a:off x="9603360" y="-8640"/>
              <a:ext cx="2586600" cy="68648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56" name="CustomShape 6"/>
            <p:cNvSpPr/>
            <p:nvPr/>
          </p:nvSpPr>
          <p:spPr>
            <a:xfrm>
              <a:off x="8932320" y="3048120"/>
              <a:ext cx="3258000" cy="380808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57" name="CustomShape 7"/>
            <p:cNvSpPr/>
            <p:nvPr/>
          </p:nvSpPr>
          <p:spPr>
            <a:xfrm>
              <a:off x="9334440" y="-8640"/>
              <a:ext cx="2852640" cy="68648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58" name="CustomShape 8"/>
            <p:cNvSpPr/>
            <p:nvPr/>
          </p:nvSpPr>
          <p:spPr>
            <a:xfrm>
              <a:off x="10898640" y="-8640"/>
              <a:ext cx="1288440" cy="68648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59" name="CustomShape 9"/>
            <p:cNvSpPr/>
            <p:nvPr/>
          </p:nvSpPr>
          <p:spPr>
            <a:xfrm>
              <a:off x="10938960" y="-8640"/>
              <a:ext cx="1248120" cy="68648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0" name="CustomShape 10"/>
            <p:cNvSpPr/>
            <p:nvPr/>
          </p:nvSpPr>
          <p:spPr>
            <a:xfrm>
              <a:off x="10371600" y="3589920"/>
              <a:ext cx="1815480" cy="32662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1" name="CustomShape 11"/>
            <p:cNvSpPr/>
            <p:nvPr/>
          </p:nvSpPr>
          <p:spPr>
            <a:xfrm rot="10800000">
              <a:off x="1800" y="1800"/>
              <a:ext cx="840960" cy="56642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aphicFrame>
        <p:nvGraphicFramePr>
          <p:cNvPr id="162" name="Table 12"/>
          <p:cNvGraphicFramePr/>
          <p:nvPr/>
        </p:nvGraphicFramePr>
        <p:xfrm>
          <a:off x="709920" y="640800"/>
          <a:ext cx="9258120" cy="2272320"/>
        </p:xfrm>
        <a:graphic>
          <a:graphicData uri="http://schemas.openxmlformats.org/drawingml/2006/table">
            <a:tbl>
              <a:tblPr/>
              <a:tblGrid>
                <a:gridCol w="1989000"/>
                <a:gridCol w="2885400"/>
                <a:gridCol w="4384080"/>
              </a:tblGrid>
              <a:tr h="4543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543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:hover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When mouse hovers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a:hover { color: red;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43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:first-child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First child of parent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li:first-child { color: blue;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543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:last-child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Last child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li:last-child { color: green;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5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:nth-child(n)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Selects nth child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li:nth-child(2) { font-weight: bold;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3" name="CustomShape 13"/>
          <p:cNvSpPr/>
          <p:nvPr/>
        </p:nvSpPr>
        <p:spPr>
          <a:xfrm>
            <a:off x="705600" y="-4320"/>
            <a:ext cx="377496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Pseudo-class Selectors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164" name="Table 14"/>
          <p:cNvGraphicFramePr/>
          <p:nvPr/>
        </p:nvGraphicFramePr>
        <p:xfrm>
          <a:off x="407160" y="3808800"/>
          <a:ext cx="9664200" cy="2642040"/>
        </p:xfrm>
        <a:graphic>
          <a:graphicData uri="http://schemas.openxmlformats.org/drawingml/2006/table">
            <a:tbl>
              <a:tblPr/>
              <a:tblGrid>
                <a:gridCol w="1792800"/>
                <a:gridCol w="3641760"/>
                <a:gridCol w="4230000"/>
              </a:tblGrid>
              <a:tr h="5284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Selector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Example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5284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::before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Adds content before element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p::before { content: "→ ";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84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::after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Adds content after element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p::after { content: ".";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5284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::first-letter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Styles the first letter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p::first-letter { font-size: 200%;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84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::first-line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Styles the first line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Trebuchet MS"/>
                          <a:ea typeface="DejaVu Sans"/>
                        </a:rPr>
                        <a:t>p::first-line { font-weight: bold; }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5" name="CustomShape 15"/>
          <p:cNvSpPr/>
          <p:nvPr/>
        </p:nvSpPr>
        <p:spPr>
          <a:xfrm>
            <a:off x="705600" y="3221280"/>
            <a:ext cx="442188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Pseudo-element Selectors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Border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288000" y="987480"/>
            <a:ext cx="938052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border property in CSS is used to define a line around an HTML element. It controls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thickness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style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 and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border.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288000" y="2093760"/>
            <a:ext cx="989208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28600" indent="-22716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border-width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 Controls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thickness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border. Can be applied uniformly or differently on each side.</a:t>
            </a:r>
            <a:endParaRPr b="0" lang="en-IN" sz="2000" spc="-1" strike="noStrike">
              <a:latin typeface="Arial"/>
            </a:endParaRPr>
          </a:p>
          <a:p>
            <a:pPr marL="228600" indent="-22716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border-style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 Specifies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appearance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border line. Values include solid, dashed, dotted, double, groove, ridge, inset, outset, and none.</a:t>
            </a:r>
            <a:endParaRPr b="0" lang="en-IN" sz="2000" spc="-1" strike="noStrike">
              <a:latin typeface="Arial"/>
            </a:endParaRPr>
          </a:p>
          <a:p>
            <a:pPr marL="228600" indent="-22716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border-color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 Defines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border. Accepts color names, hex, RGB, or other color formats.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256680" y="298440"/>
            <a:ext cx="935964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 Radius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border-radius property rounds the corners of the element’s border. Each corner can be customized separately or uniformly.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256680" y="1718280"/>
            <a:ext cx="511128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 Sides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You can target specific sides using: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border-top-width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border-top-style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border-top-color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Box model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1008360" y="987480"/>
            <a:ext cx="8618400" cy="69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1. Content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actual content like text, image, etc.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Size controlled using width and height.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2. Padding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Space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inside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the element between content and border.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Increases the space around the content.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3. Border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edge or line surrounding the padding (or content if no padding).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4. Margin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Space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outside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the border.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Used to create space between elements.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256680" y="288000"/>
            <a:ext cx="8743680" cy="603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Total Box Size (Default Model)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By default, the element’s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total size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is: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Total Width = border + padding + width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Total Height =  border + padding + height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Box-Sizing Property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box-sizing: content-box (default)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Width/height apply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only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to content.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Padding and border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add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to the size.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box-sizing: border-box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Width/height include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content + padding + border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Easier to control layout sizes.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CustomShape 2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CustomShape 3"/>
          <p:cNvSpPr/>
          <p:nvPr/>
        </p:nvSpPr>
        <p:spPr>
          <a:xfrm>
            <a:off x="0" y="0"/>
            <a:ext cx="12190680" cy="6218280"/>
          </a:xfrm>
          <a:custGeom>
            <a:avLst/>
            <a:gdLst/>
            <a:ahLst/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77" name="Picture 2" descr=""/>
          <p:cNvPicPr/>
          <p:nvPr/>
        </p:nvPicPr>
        <p:blipFill>
          <a:blip r:embed="rId1"/>
          <a:stretch/>
        </p:blipFill>
        <p:spPr>
          <a:xfrm>
            <a:off x="601560" y="-1080"/>
            <a:ext cx="10984320" cy="5588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Background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9" name="CustomShape 2"/>
          <p:cNvSpPr/>
          <p:nvPr/>
        </p:nvSpPr>
        <p:spPr>
          <a:xfrm>
            <a:off x="1112760" y="987480"/>
            <a:ext cx="3869280" cy="374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List of Background Properties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background-color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background-image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background-repeat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background-position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background-size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background-attachment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Background-clip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1018800" y="4713840"/>
            <a:ext cx="923436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background-color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Sets the background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background-image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Sets a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 image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455040" y="-4320"/>
            <a:ext cx="6468120" cy="374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background-repeat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Defines how the image is repeated: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 (default): Repeats both x and y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no-repeat: No repetition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repeat-x: Repeats horizontally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repeat-y: Repeats vertically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background-position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Sets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starting position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image.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455040" y="3889440"/>
            <a:ext cx="724068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background-size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Sets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size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of the background image: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cover: Fill the element, cropping if necessary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contain: Fit the image inside without cropping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auto: Use image's original size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559440" y="152280"/>
            <a:ext cx="7188480" cy="511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background-attachment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Controls if the image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scrolls with the page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scroll (default)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fixed (image stays in place)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local (scrolls with the element)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background-clip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Specifies how far the background extends: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border-box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padding-box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content-box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Gradients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298440" y="987480"/>
            <a:ext cx="1060200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CSS gradients let you display smooth transitions between two or more specified colors.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Linear Gradients (goes down/up/left/right/diagonally)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Radial Gradients (defined by their center)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Conic Gradients (rotated around a center point)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162720" y="2866320"/>
            <a:ext cx="10581120" cy="329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Linear Gradients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To create a linear gradient you must define at least two color stops. Color stops are the colors you want to render smooth transitions among.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You can also set a starting point and a direction (or an angle) along with the gradient effect.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Syntax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background-image: linear-gradient(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direction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 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color-stop1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 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color-stop2, ...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);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277560" y="319320"/>
            <a:ext cx="991296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Radial Gradients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 radial gradient is defined by its center.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To create a radial gradient you must also define at least two color stops.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Syntax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background-image: radial-gradient(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shape size 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at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position, start-color, ..., last-color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);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8" name="CustomShape 2"/>
          <p:cNvSpPr/>
          <p:nvPr/>
        </p:nvSpPr>
        <p:spPr>
          <a:xfrm>
            <a:off x="277560" y="3022920"/>
            <a:ext cx="1101924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Conic Gradients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 conic gradient is a gradient with color transitions rotated around a center point.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To create a conic gradient you must define at least two colors.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Syntax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background-image: conic-gradient([from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angle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] [at 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position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,] 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color 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[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degree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]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 color 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[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degree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]</a:t>
            </a:r>
            <a:r>
              <a:rPr b="0" i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, ...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);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319320" y="559440"/>
            <a:ext cx="10257480" cy="557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repeating-linear-gradient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Creates a linear gradient that repeats infinitely along a straight line.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Works like a normal linear-gradient, but the color pattern continues repeating beyond the defined range.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repeating-radial-gradient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Generates a radial (circular/elliptical) gradient that repeats outward from the center.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gradient pattern starts from the center and repeats in concentric shapes.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repeating-conic-gradient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Creates a conic gradient (rotates around a point) that repeats in a circular fashion.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color segments loop continuously around the center point.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Text property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350640" y="987480"/>
            <a:ext cx="9255240" cy="28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Text Alignment and Text Direction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text-align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text-align-last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direction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unicode-bidi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vertical-align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350640" y="3952080"/>
            <a:ext cx="6290640" cy="28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Text Decoration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text-decoration-line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text-decoration-color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text-decoration-style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text-decoration-thickness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text-decoration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288000" y="204480"/>
            <a:ext cx="946404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Text Transformation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text-transform property is used to specify uppercase and lowercase letters in a text.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288000" y="1718280"/>
            <a:ext cx="632196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Text Spacing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text-indent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letter-spacing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line-height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word-spacing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194040" y="4244400"/>
            <a:ext cx="641592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Text Shadow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text-shadow property adds shadow to text.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6" name="CustomShape 4"/>
          <p:cNvSpPr/>
          <p:nvPr/>
        </p:nvSpPr>
        <p:spPr>
          <a:xfrm>
            <a:off x="194040" y="5496840"/>
            <a:ext cx="7365960" cy="71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ts val="2475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Box Shadow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​</a:t>
            </a:r>
            <a:endParaRPr b="0" lang="en-IN" sz="2000" spc="-1" strike="noStrike">
              <a:latin typeface="Arial"/>
            </a:endParaRPr>
          </a:p>
          <a:p>
            <a:pPr>
              <a:lnSpc>
                <a:spcPts val="2475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 box-shadow property adds shadow to box eg-div.​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Display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162720" y="1133640"/>
            <a:ext cx="962064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display property in CSS determines how an HTML element is displayed/rendered on the page. It is one of the most fundamental and important properties in CSS.</a:t>
            </a:r>
            <a:endParaRPr b="0" lang="en-IN" sz="2000" spc="-1" strike="noStrike">
              <a:latin typeface="Arial"/>
            </a:endParaRPr>
          </a:p>
        </p:txBody>
      </p:sp>
      <p:graphicFrame>
        <p:nvGraphicFramePr>
          <p:cNvPr id="199" name="Table 3"/>
          <p:cNvGraphicFramePr/>
          <p:nvPr/>
        </p:nvGraphicFramePr>
        <p:xfrm>
          <a:off x="438480" y="3075120"/>
          <a:ext cx="9692280" cy="360000"/>
        </p:xfrm>
        <a:graphic>
          <a:graphicData uri="http://schemas.openxmlformats.org/drawingml/2006/table">
            <a:tbl>
              <a:tblPr/>
              <a:tblGrid>
                <a:gridCol w="2100960"/>
                <a:gridCol w="759168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Meaning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block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Element takes full width available, starts on a new line.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inline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Element takes only as much width as needed. Doesn't start on new line.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inline-block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Like inline, but allows setting width and height.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none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Hides the element completely (no space taken).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Position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402840" y="1102320"/>
            <a:ext cx="10100880" cy="466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position property specifies the type of positioning method used for an element.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static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relative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fixed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absolute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sticky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Elements are then positioned using the top, bottom, left, and right properties.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These properties will not work unless the position property is set first.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They also work differently depending on the position value.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569880" y="799560"/>
            <a:ext cx="910908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static (default)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default position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for all elements.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Elements are placed in the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normal document flow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You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cannot use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top, left, right, or bottom with it.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relative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element stays in the normal flow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but can be shifted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using top, left, right, or bottom.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movement is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relative to its original position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It does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not affect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the layout of surrounding elements.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308880" y="256680"/>
            <a:ext cx="9182160" cy="329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absolute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element is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removed from normal flow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It is positioned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relative to the nearest positioned ancestor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(i.e., one with position: relative, absolute, or fixed).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If no such ancestor exists, it is positioned relative to the &lt;html&gt; (page itself).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Surrounding elements act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 if it doesn’t exist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308880" y="3774600"/>
            <a:ext cx="952668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fixed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element is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removed from normal flow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pinned to the viewport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It stays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fixed in place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even when the user scrolls.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It is always positioned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relative to the browser window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267120" y="131400"/>
            <a:ext cx="930744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sticky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hybrid between relative and fixed.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element behaves like relative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until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a certain scroll point is reached.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After that, it becomes fixed and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sticks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in place.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Requires top, left, etc., and a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scrollable container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or page.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267120" y="3106440"/>
            <a:ext cx="9850320" cy="374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overflow property specifies whether to clip the content or to add scrollbars when the content of an element is too big to fit in the specified area.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visible - Default. The overflow is not clipped. The content renders outside the element's box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hidden - The overflow is clipped, and the rest of the content will be invisible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scroll - The overflow is clipped, and a scrollbar is added to see the rest of the content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auto - Similar to scroll, but it adds scrollbars only when necessary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267120" y="2741040"/>
            <a:ext cx="2741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Overflow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677160" y="27144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Flex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230760" y="992880"/>
            <a:ext cx="1006992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Purpose: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Flexbox is one-dimensional — it works either in a row or column. Use it when you want to align items in a single direction. 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230760" y="2483280"/>
            <a:ext cx="944244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.display: flex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Turns an element into a flex container.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343080" y="3749400"/>
            <a:ext cx="4063680" cy="23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&lt;div class="flex-container"&gt;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 &lt;div&gt;1&lt;/div&gt;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 &lt;div&gt;2&lt;/div&gt;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 &lt;div&gt;3&lt;/div&gt;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&lt;/div&gt;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746280" y="354240"/>
            <a:ext cx="7840080" cy="329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 CSS properties we use for the flex container are: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flex-direction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flex-wrap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flex-flow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justify-content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align-items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align-content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589320" y="3984840"/>
            <a:ext cx="933048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flex-direction property specifies the display-direction of flex items in the flex container.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589320" y="5172480"/>
            <a:ext cx="985716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flex-wrap property controls whether the flex items should wrap or stay in a single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line inside a flex container.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230760" y="286920"/>
            <a:ext cx="939780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justify-content property is used to align the flex items when they do not use all available space on the main-axis (horizontally).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justify-content property can have one of the following values: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center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flex-start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flex-end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space-around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space-between</a:t>
            </a:r>
            <a:endParaRPr b="0" lang="en-IN" sz="2000" spc="-1" strike="noStrike">
              <a:latin typeface="Arial"/>
            </a:endParaRPr>
          </a:p>
          <a:p>
            <a:pPr lvl="1" marL="8002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space-evenly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298440" y="528120"/>
            <a:ext cx="997524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align-items property is used to align the flex items when they do not use all available space on the cross-axis (vertically).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align-items property can have one of the following values: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center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flex-start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flex-end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stretch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baseline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normal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Table 1"/>
          <p:cNvGraphicFramePr/>
          <p:nvPr/>
        </p:nvGraphicFramePr>
        <p:xfrm>
          <a:off x="532080" y="613800"/>
          <a:ext cx="9469080" cy="6024960"/>
        </p:xfrm>
        <a:graphic>
          <a:graphicData uri="http://schemas.openxmlformats.org/drawingml/2006/table">
            <a:tbl>
              <a:tblPr/>
              <a:tblGrid>
                <a:gridCol w="1892160"/>
                <a:gridCol w="7577280"/>
              </a:tblGrid>
              <a:tr h="62316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Property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860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1"/>
                        </a:rPr>
                        <a:t>align-self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the alignment for a flex item (overrides the flex container's align-items property)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</a:tr>
              <a:tr h="103860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2"/>
                        </a:rPr>
                        <a:t>flex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 shorthand property for the flex-grow, flex-shrink, and the flex-basis properties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316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3"/>
                        </a:rPr>
                        <a:t>flex-basis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the initial length of a flex item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</a:tr>
              <a:tr h="103860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4"/>
                        </a:rPr>
                        <a:t>flex-grow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how much a flex item will grow relative to the rest of the flex items inside the container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860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5"/>
                        </a:rPr>
                        <a:t>flex-shrink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how much a flex item will shrink relative to the rest of the flex items inside the container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cccccc"/>
                      </a:solidFill>
                    </a:lnB>
                    <a:solidFill>
                      <a:srgbClr val="e7e9eb"/>
                    </a:solidFill>
                  </a:tcPr>
                </a:tc>
              </a:tr>
              <a:tr h="624600">
                <a:tc>
                  <a:txBody>
                    <a:bodyPr lIns="15228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 u="sng">
                          <a:solidFill>
                            <a:srgbClr val="99ca3c"/>
                          </a:solidFill>
                          <a:uFillTx/>
                          <a:latin typeface="Arial"/>
                          <a:ea typeface="DejaVu Sans"/>
                          <a:hlinkClick r:id="rId6"/>
                        </a:rPr>
                        <a:t>order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the order of the flex items inside the container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cccccc"/>
                      </a:solidFill>
                    </a:lnL>
                    <a:lnR w="9360">
                      <a:solidFill>
                        <a:srgbClr val="cccccc"/>
                      </a:solidFill>
                    </a:lnR>
                    <a:lnT w="9360">
                      <a:solidFill>
                        <a:srgbClr val="cccccc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475920" y="298440"/>
            <a:ext cx="9286200" cy="511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align-content property is used to align the flex lines.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align-content property is similar to align-items, but instead of aligning flex items, it aligns the flex lines.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The align-content property can have one of the following values: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center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stretch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flex-start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flex-end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space-around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space-between</a:t>
            </a:r>
            <a:endParaRPr b="0" lang="en-IN" sz="2000" spc="-1" strike="noStrike">
              <a:latin typeface="Arial"/>
            </a:endParaRPr>
          </a:p>
          <a:p>
            <a:pPr lvl="2" marL="1257480" indent="-3412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space-evenly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Grid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564840" y="1107720"/>
            <a:ext cx="1006992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Purpose: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grid is two-dimensional  it works in both row and column.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CSS Grid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 is a layout system in CSS that allows you to design web pages using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rows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columns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569880" y="3189960"/>
            <a:ext cx="1067508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display: grid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Turns an element into a grid container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.container { display: grid; }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CustomShape 2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4" name="CustomShape 3"/>
          <p:cNvSpPr/>
          <p:nvPr/>
        </p:nvSpPr>
        <p:spPr>
          <a:xfrm>
            <a:off x="0" y="0"/>
            <a:ext cx="12190680" cy="6218280"/>
          </a:xfrm>
          <a:custGeom>
            <a:avLst/>
            <a:gdLst/>
            <a:ahLst/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225" name="Table 4"/>
          <p:cNvGraphicFramePr/>
          <p:nvPr/>
        </p:nvGraphicFramePr>
        <p:xfrm>
          <a:off x="824760" y="699480"/>
          <a:ext cx="11079360" cy="4501080"/>
        </p:xfrm>
        <a:graphic>
          <a:graphicData uri="http://schemas.openxmlformats.org/drawingml/2006/table">
            <a:tbl>
              <a:tblPr/>
              <a:tblGrid>
                <a:gridCol w="3207600"/>
                <a:gridCol w="7872120"/>
              </a:tblGrid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Property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display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Enables grid layout (grid or inline-grid)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grid-template-columns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Defines number and size of columns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grid-template-rows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Defines number and size of rows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grid-template-areas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Defines named layout areas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grid-template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rows, columns, and areas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column-gap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Gap between columns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row-gap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Gap between rows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gap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row-gap and column-gap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justify-content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Aligns the whole grid horizontally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align-content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Aligns the whole grid vertically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120"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place-content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57600" rIns="576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justify-content + align-content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57600" marR="57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CustomShape 2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8" name="CustomShape 3"/>
          <p:cNvSpPr/>
          <p:nvPr/>
        </p:nvSpPr>
        <p:spPr>
          <a:xfrm>
            <a:off x="0" y="0"/>
            <a:ext cx="12190680" cy="6218280"/>
          </a:xfrm>
          <a:custGeom>
            <a:avLst/>
            <a:gdLst/>
            <a:ahLst/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229" name="Table 4"/>
          <p:cNvGraphicFramePr/>
          <p:nvPr/>
        </p:nvGraphicFramePr>
        <p:xfrm>
          <a:off x="198360" y="644760"/>
          <a:ext cx="11686680" cy="360000"/>
        </p:xfrm>
        <a:graphic>
          <a:graphicData uri="http://schemas.openxmlformats.org/drawingml/2006/table">
            <a:tbl>
              <a:tblPr/>
              <a:tblGrid>
                <a:gridCol w="4650120"/>
                <a:gridCol w="703692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Property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grid-column-start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Starting column line for item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grid-column-end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Ending column line for item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grid-row-start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Starting row line for item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grid-row-end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Ending row line for item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grid-column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start/end column lines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grid-row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start/end row lines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grid-area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Set item position or name in area map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justify-self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Aligns individual item horizontally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align-self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Aligns individual item vertically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place-self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Shorthand for justify-self + align-self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Transition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235800" y="820440"/>
            <a:ext cx="9025560" cy="146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Transition allows you to smoothly animate changes in CSS property values over time, instead of them happening instantly.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IN" sz="2000" spc="-1" strike="noStrike">
              <a:latin typeface="Arial"/>
            </a:endParaRPr>
          </a:p>
        </p:txBody>
      </p:sp>
      <p:graphicFrame>
        <p:nvGraphicFramePr>
          <p:cNvPr id="232" name="Table 3"/>
          <p:cNvGraphicFramePr/>
          <p:nvPr/>
        </p:nvGraphicFramePr>
        <p:xfrm>
          <a:off x="375840" y="2243880"/>
          <a:ext cx="9654840" cy="360000"/>
        </p:xfrm>
        <a:graphic>
          <a:graphicData uri="http://schemas.openxmlformats.org/drawingml/2006/table">
            <a:tbl>
              <a:tblPr/>
              <a:tblGrid>
                <a:gridCol w="3305520"/>
                <a:gridCol w="634968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Property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transition-property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Specifies which CSS property should animate (e.g., width, background-color)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transition-duration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Sets how long the transition should take (e.g., 0.5s, 2s)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transition-timing-function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Defines the speed curve of the transition (e.g., ease, linear, ease-in)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transition-delay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Delays the start of the transition by a certain time (e.g., 1s)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transition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 shorthand to define all the above in one line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Table 1"/>
          <p:cNvGraphicFramePr/>
          <p:nvPr/>
        </p:nvGraphicFramePr>
        <p:xfrm>
          <a:off x="261000" y="1325880"/>
          <a:ext cx="9794880" cy="360000"/>
        </p:xfrm>
        <a:graphic>
          <a:graphicData uri="http://schemas.openxmlformats.org/drawingml/2006/table">
            <a:tbl>
              <a:tblPr/>
              <a:tblGrid>
                <a:gridCol w="3655800"/>
                <a:gridCol w="613944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linear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The property changes at the same speed from start to finish.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ease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Default. Starts slow, speeds up, then slows down again.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ease-in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Gradually increases speed at the beginning.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ease-out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Starts fast, then decelerates toward the end.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ease-in-out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Starts and ends slow, faster in the middle.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cubic-bezier(x, y, x2, y2)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Define your own custom speed curve using Bezier control points.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4" name="CustomShape 2"/>
          <p:cNvSpPr/>
          <p:nvPr/>
        </p:nvSpPr>
        <p:spPr>
          <a:xfrm>
            <a:off x="267120" y="381960"/>
            <a:ext cx="56228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transition-timing-function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- Speed Curve Control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Transform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371520" y="820440"/>
            <a:ext cx="927612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transform property lets you visually manipulate an element without affecting the actual layout.</a:t>
            </a:r>
            <a:endParaRPr b="0" lang="en-IN" sz="2000" spc="-1" strike="noStrike">
              <a:latin typeface="Arial"/>
            </a:endParaRPr>
          </a:p>
        </p:txBody>
      </p:sp>
      <p:graphicFrame>
        <p:nvGraphicFramePr>
          <p:cNvPr id="237" name="Table 3"/>
          <p:cNvGraphicFramePr/>
          <p:nvPr/>
        </p:nvGraphicFramePr>
        <p:xfrm>
          <a:off x="375840" y="2199240"/>
          <a:ext cx="9832320" cy="360000"/>
        </p:xfrm>
        <a:graphic>
          <a:graphicData uri="http://schemas.openxmlformats.org/drawingml/2006/table">
            <a:tbl>
              <a:tblPr/>
              <a:tblGrid>
                <a:gridCol w="3263400"/>
                <a:gridCol w="656928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Function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translate(x, y)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Moves an element left/right (x) and up/down (y)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scale(x, y)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Scales the element’s size; x for width, y for height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rotate(angle)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Rotates the element by a given angle (in deg, rad, etc.)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skew(x-angle, y-angle)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Skews (shears) the element along the x and/or y axis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matrix(a, b, c, d, e, f)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Applies all transforms in one — advanced use case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Animation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39" name="CustomShape 2"/>
          <p:cNvSpPr/>
          <p:nvPr/>
        </p:nvSpPr>
        <p:spPr>
          <a:xfrm>
            <a:off x="47880" y="820440"/>
            <a:ext cx="983988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 animation lets an element gradually change from one style to another.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 You can change as many CSS properties as you want, as many times as you want.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0" name="CustomShape 3"/>
          <p:cNvSpPr/>
          <p:nvPr/>
        </p:nvSpPr>
        <p:spPr>
          <a:xfrm>
            <a:off x="1039680" y="2021040"/>
            <a:ext cx="393156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@keyframes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animation-name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animation-duration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animation-delay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animation-iteration-count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animation-direction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animation-timing-function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animation-fill-mode</a:t>
            </a:r>
            <a:endParaRPr b="0" lang="en-IN" sz="2000" spc="-1" strike="noStrike"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Verdana"/>
              </a:rPr>
              <a:t>animation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214920" y="120960"/>
            <a:ext cx="9620640" cy="603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@keyframes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Used to define the animation steps.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Contains style rules that describe the states of the element at various points in time.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Can use percentages or the keywords from (0%) and to (100%).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animation-name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Specifies the name of the @keyframes animation to apply.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animation-duration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Defines how long the animation takes to complete one cycle.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Default is 0s (no animation unless this is set).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animation-delay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Delays the start of the animation by a given amount of time.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Can accept negative values (animation starts partway through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/>
          <p:cNvSpPr/>
          <p:nvPr/>
        </p:nvSpPr>
        <p:spPr>
          <a:xfrm>
            <a:off x="423720" y="507240"/>
            <a:ext cx="8858520" cy="511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animation-iteration-count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Specifies how many times the animation should repeat.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Can be a number or infinite.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animation-direction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Defines the direction the animation runs in each cycle.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 normal – default (forwards)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 reverse – backwards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 alternate – forwards then backwards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 alternate-reverse – backwards then forwards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animation-timing-function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Specifies the speed curve of the animation.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173160" y="475920"/>
            <a:ext cx="10153080" cy="466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animation-fill-mode</a:t>
            </a:r>
            <a:endParaRPr b="0" lang="en-IN" sz="2000" spc="-1" strike="noStrike">
              <a:latin typeface="Arial"/>
            </a:endParaRPr>
          </a:p>
          <a:p>
            <a:pPr lvl="1" marL="800280" indent="-3416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Specifies what styles should be applied to the element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before and after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the animation.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 none – default (no styles retained)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 forwards – retain styles from the last keyframe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 backwards – apply styles from the first keyframe during delay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 both – combines forwards and backwards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 (shorthand)</a:t>
            </a:r>
            <a:endParaRPr b="0" lang="en-IN" sz="2000" spc="-1" strike="noStrike">
              <a:latin typeface="Arial"/>
            </a:endParaRPr>
          </a:p>
          <a:p>
            <a:pPr lvl="1" marL="685800" indent="-227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shorthand for setting all animation properties in a single line.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animation: name duration timing-function delay iteration-count direction fill-mode;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Variables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663840" y="1091880"/>
            <a:ext cx="8222400" cy="237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 var() function is used to insert the value of a CSS variable.</a:t>
            </a:r>
            <a:endParaRPr b="0" lang="en-IN" sz="2000" spc="-1" strike="noStrike">
              <a:latin typeface="Arial"/>
            </a:endParaRPr>
          </a:p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CSS variables have access to the DOM.</a:t>
            </a:r>
            <a:endParaRPr b="0" lang="en-IN" sz="2000" spc="-1" strike="noStrike">
              <a:latin typeface="Arial"/>
            </a:endParaRPr>
          </a:p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You can create variables with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local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or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global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scope.</a:t>
            </a:r>
            <a:endParaRPr b="0" lang="en-IN" sz="2000" spc="-1" strike="noStrike">
              <a:latin typeface="Arial"/>
            </a:endParaRPr>
          </a:p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CSS variables can be changed using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JavaScript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CSS variables can respond to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media queries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110520" y="3565800"/>
            <a:ext cx="4673160" cy="100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Syntax of the var() Function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var(--name, value)</a:t>
            </a:r>
            <a:endParaRPr b="0" lang="en-IN" sz="2000" spc="-1" strike="noStrike">
              <a:latin typeface="Arial"/>
            </a:endParaRPr>
          </a:p>
        </p:txBody>
      </p:sp>
      <p:graphicFrame>
        <p:nvGraphicFramePr>
          <p:cNvPr id="247" name="Table 4"/>
          <p:cNvGraphicFramePr/>
          <p:nvPr/>
        </p:nvGraphicFramePr>
        <p:xfrm>
          <a:off x="522000" y="4975560"/>
          <a:ext cx="8505720" cy="360000"/>
        </p:xfrm>
        <a:graphic>
          <a:graphicData uri="http://schemas.openxmlformats.org/drawingml/2006/table">
            <a:tbl>
              <a:tblPr/>
              <a:tblGrid>
                <a:gridCol w="1176480"/>
                <a:gridCol w="7329600"/>
              </a:tblGrid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Name  -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Required. The variable name (must start with two dashes --)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Value   -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Optional. The fallback value (used if the variable is not found)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29760" y="204480"/>
            <a:ext cx="5925960" cy="374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Example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:root {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--main-color: #3498db;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--padding-size: 20px; }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/* Using the variables */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.box {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background-color: var(--main-color);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padding: var(--padding-size); } 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329760" y="4338360"/>
            <a:ext cx="8639640" cy="191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Advantages of using var()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Makes the code easier to read (more understandable)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  Makes it much easier to change the color or spacing values</a:t>
            </a:r>
            <a:br/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  Enables reusable and maintainable styling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666720" y="104400"/>
            <a:ext cx="85950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100000"/>
              </a:lnSpc>
            </a:pPr>
            <a:r>
              <a:rPr b="1" lang="en-IN" sz="4000" spc="-1" strike="noStrike">
                <a:solidFill>
                  <a:srgbClr val="90c226"/>
                </a:solidFill>
                <a:latin typeface="Arial"/>
                <a:ea typeface="DejaVu Sans"/>
              </a:rPr>
              <a:t>Media Query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141840" y="2991600"/>
            <a:ext cx="5257800" cy="161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Syntax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@media media-type and (condition)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    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/* CSS rules */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350640" y="820440"/>
            <a:ext cx="9725400" cy="191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media query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allows you to apply styles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conditionally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based on the device’s characteristics.</a:t>
            </a:r>
            <a:endParaRPr b="0" lang="en-IN" sz="2000" spc="-1" strike="noStrike">
              <a:latin typeface="Arial"/>
            </a:endParaRPr>
          </a:p>
          <a:p>
            <a:pPr marL="228600" indent="-227520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They help make websites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responsive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-meaning the design adjusts to different screen sizes.</a:t>
            </a:r>
            <a:endParaRPr b="0" lang="en-IN" sz="2000" spc="-1" strike="noStrike">
              <a:latin typeface="Arial"/>
            </a:endParaRPr>
          </a:p>
        </p:txBody>
      </p:sp>
      <p:graphicFrame>
        <p:nvGraphicFramePr>
          <p:cNvPr id="253" name="Table 4"/>
          <p:cNvGraphicFramePr/>
          <p:nvPr/>
        </p:nvGraphicFramePr>
        <p:xfrm>
          <a:off x="354960" y="4978440"/>
          <a:ext cx="8799840" cy="793080"/>
        </p:xfrm>
        <a:graphic>
          <a:graphicData uri="http://schemas.openxmlformats.org/drawingml/2006/table">
            <a:tbl>
              <a:tblPr/>
              <a:tblGrid>
                <a:gridCol w="1946880"/>
                <a:gridCol w="6853320"/>
              </a:tblGrid>
              <a:tr h="3967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media-type  -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Type of device (e.g., screen, print, all)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3967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Condition     -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Feature like max-width, min-width, etc.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204480" y="653400"/>
            <a:ext cx="10143000" cy="423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708090"/>
                </a:solidFill>
                <a:latin typeface="Consolas"/>
                <a:ea typeface="DejaVu Sans"/>
              </a:rPr>
              <a:t>/* Extra small devices (phones, 600px and down) */</a:t>
            </a:r>
            <a:br/>
            <a:r>
              <a:rPr b="0" lang="en-IN" sz="2000" spc="-1" strike="noStrike">
                <a:solidFill>
                  <a:srgbClr val="990055"/>
                </a:solidFill>
                <a:latin typeface="Consolas"/>
                <a:ea typeface="DejaVu Sans"/>
              </a:rPr>
              <a:t>@media only screen and (max-width: 600px) 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{</a:t>
            </a:r>
            <a:r>
              <a:rPr b="0" lang="en-IN" sz="2000" spc="-1" strike="noStrike">
                <a:solidFill>
                  <a:srgbClr val="d73a49"/>
                </a:solidFill>
                <a:latin typeface="Consolas"/>
                <a:ea typeface="DejaVu Sans"/>
              </a:rPr>
              <a:t>...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}</a:t>
            </a:r>
            <a:br/>
            <a:br/>
            <a:r>
              <a:rPr b="0" lang="en-IN" sz="2000" spc="-1" strike="noStrike">
                <a:solidFill>
                  <a:srgbClr val="708090"/>
                </a:solidFill>
                <a:latin typeface="Consolas"/>
                <a:ea typeface="DejaVu Sans"/>
              </a:rPr>
              <a:t>/* Small devices (portrait tablets and large phones, 600px and up) */</a:t>
            </a:r>
            <a:br/>
            <a:r>
              <a:rPr b="0" lang="en-IN" sz="2000" spc="-1" strike="noStrike">
                <a:solidFill>
                  <a:srgbClr val="990055"/>
                </a:solidFill>
                <a:latin typeface="Consolas"/>
                <a:ea typeface="DejaVu Sans"/>
              </a:rPr>
              <a:t>@media only screen and (min-width: 600px) 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{</a:t>
            </a:r>
            <a:r>
              <a:rPr b="0" lang="en-IN" sz="2000" spc="-1" strike="noStrike">
                <a:solidFill>
                  <a:srgbClr val="d73a49"/>
                </a:solidFill>
                <a:latin typeface="Consolas"/>
                <a:ea typeface="DejaVu Sans"/>
              </a:rPr>
              <a:t>...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}</a:t>
            </a:r>
            <a:br/>
            <a:br/>
            <a:r>
              <a:rPr b="0" lang="en-IN" sz="2000" spc="-1" strike="noStrike">
                <a:solidFill>
                  <a:srgbClr val="708090"/>
                </a:solidFill>
                <a:latin typeface="Consolas"/>
                <a:ea typeface="DejaVu Sans"/>
              </a:rPr>
              <a:t>/* Medium devices (landscape tablets, 768px and up) */</a:t>
            </a:r>
            <a:br/>
            <a:r>
              <a:rPr b="0" lang="en-IN" sz="2000" spc="-1" strike="noStrike">
                <a:solidFill>
                  <a:srgbClr val="990055"/>
                </a:solidFill>
                <a:latin typeface="Consolas"/>
                <a:ea typeface="DejaVu Sans"/>
              </a:rPr>
              <a:t>@media only screen and (min-width: 768px) 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{</a:t>
            </a:r>
            <a:r>
              <a:rPr b="0" lang="en-IN" sz="2000" spc="-1" strike="noStrike">
                <a:solidFill>
                  <a:srgbClr val="d73a49"/>
                </a:solidFill>
                <a:latin typeface="Consolas"/>
                <a:ea typeface="DejaVu Sans"/>
              </a:rPr>
              <a:t>...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}</a:t>
            </a:r>
            <a:br/>
            <a:br/>
            <a:r>
              <a:rPr b="0" lang="en-IN" sz="2000" spc="-1" strike="noStrike">
                <a:solidFill>
                  <a:srgbClr val="708090"/>
                </a:solidFill>
                <a:latin typeface="Consolas"/>
                <a:ea typeface="DejaVu Sans"/>
              </a:rPr>
              <a:t>/* Large devices (laptops/desktops, 992px and up) */</a:t>
            </a:r>
            <a:br/>
            <a:r>
              <a:rPr b="0" lang="en-IN" sz="2000" spc="-1" strike="noStrike">
                <a:solidFill>
                  <a:srgbClr val="990055"/>
                </a:solidFill>
                <a:latin typeface="Consolas"/>
                <a:ea typeface="DejaVu Sans"/>
              </a:rPr>
              <a:t>@media only screen and (min-width: 992px) 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{</a:t>
            </a:r>
            <a:r>
              <a:rPr b="0" lang="en-IN" sz="2000" spc="-1" strike="noStrike">
                <a:solidFill>
                  <a:srgbClr val="d73a49"/>
                </a:solidFill>
                <a:latin typeface="Consolas"/>
                <a:ea typeface="DejaVu Sans"/>
              </a:rPr>
              <a:t>...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}</a:t>
            </a:r>
            <a:br/>
            <a:br/>
            <a:r>
              <a:rPr b="0" lang="en-IN" sz="2000" spc="-1" strike="noStrike">
                <a:solidFill>
                  <a:srgbClr val="708090"/>
                </a:solidFill>
                <a:latin typeface="Consolas"/>
                <a:ea typeface="DejaVu Sans"/>
              </a:rPr>
              <a:t>/* Extra large devices (large laptops and desktops, 1200px and up) */</a:t>
            </a:r>
            <a:br/>
            <a:r>
              <a:rPr b="0" lang="en-IN" sz="2000" spc="-1" strike="noStrike">
                <a:solidFill>
                  <a:srgbClr val="990055"/>
                </a:solidFill>
                <a:latin typeface="Consolas"/>
                <a:ea typeface="DejaVu Sans"/>
              </a:rPr>
              <a:t>@media only screen and (min-width: 1200px) 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{</a:t>
            </a:r>
            <a:r>
              <a:rPr b="0" lang="en-IN" sz="2000" spc="-1" strike="noStrike">
                <a:solidFill>
                  <a:srgbClr val="d73a49"/>
                </a:solidFill>
                <a:latin typeface="Consolas"/>
                <a:ea typeface="DejaVu Sans"/>
              </a:rPr>
              <a:t>...</a:t>
            </a:r>
            <a:r>
              <a:rPr b="0" lang="en-IN" sz="2000" spc="-1" strike="noStrike">
                <a:solidFill>
                  <a:srgbClr val="999999"/>
                </a:solidFill>
                <a:latin typeface="Consolas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747360" y="183600"/>
            <a:ext cx="8431200" cy="64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/* Default for all screens */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Body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 background-color: white;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/* For screens smaller than 768px (phones) */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@media screen and (max-width: 768px) {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body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 background-color: lightblue; } }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/* For screens between 769px and 1024px (tablets) */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@media screen and (min-width: 769px) and (max-width: 1024px) {   body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 background-color: lightgreen; }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/* For screens larger than 1024px (desktops) */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 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@media screen and (min-width: 1025px) {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  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body { background-color: lightcoral; } } 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18052</TotalTime>
  <Application>Trio_Office/6.2.8.2$Windows_x86 LibreOffice_project/</Application>
  <Words>20131</Words>
  <Paragraphs>4352</Paragraphs>
  <Company>HP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2020-03-25T06:39:02Z</dcterms:created>
  <dc:creator>Harsh</dc:creator>
  <dc:description/>
  <dc:language>en-IN</dc:language>
  <cp:lastModifiedBy/>
  <dcterms:modified xsi:type="dcterms:W3CDTF">2025-11-12T13:06:54Z</dcterms:modified>
  <cp:revision>1996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HP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44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44</vt:i4>
  </property>
</Properties>
</file>